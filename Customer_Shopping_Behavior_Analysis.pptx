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239d631-e9ba-41c6-13f9-c248eb57fb38}">
          <p14:sldIdLst>
            <p14:sldId id="256"/>
            <p14:sldId id="257"/>
            <p14:sldId id="258"/>
          </p14:sldIdLst>
        </p14:section>
        <p14:section name="Data preparation" id="{1b23f396-1fce-5ccc-a4f0-1dffa9c9baa9}">
          <p14:sldIdLst>
            <p14:sldId id="259"/>
            <p14:sldId id="260"/>
          </p14:sldIdLst>
        </p14:section>
        <p14:section name="SQL analysis" id="{4267cd78-008a-4471-92de-c509c221579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Dashboard and recommendations" id="{dab09853-df57-6b32-4f3b-b24c6ac9136a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Total revenue by gender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B7FD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F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FD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1F5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A1F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Customers (3,900 total)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38A"/>
              </a:solidFill>
              <a:effectLst/>
            </c:spPr>
          </c:dPt>
          <c:dPt>
            <c:idx val="1"/>
            <c:bubble3D val="0"/>
            <c:spPr>
              <a:solidFill>
                <a:srgbClr val="0B1F5C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Discount users above average spend</c:v>
                </c:pt>
                <c:pt idx="1">
                  <c:v>All other customers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839</c:v>
                </c:pt>
                <c:pt idx="1">
                  <c:v>3061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A1F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Average review rating (out of 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0B1F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F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A1F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Average purchase amount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purchase</c:v>
                </c:pt>
              </c:strCache>
            </c:strRef>
          </c:tx>
          <c:spPr>
            <a:solidFill>
              <a:srgbClr val="6B7FD7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F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FD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1F5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1" i="0" strike="noStrike" sz="1400" u="none">
                  <a:solidFill>
                    <a:srgbClr val="1A1F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Customers by subscription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38A"/>
              </a:solidFill>
              <a:effectLst/>
            </c:spPr>
          </c:dPt>
          <c:dPt>
            <c:idx val="1"/>
            <c:bubble3D val="0"/>
            <c:spPr>
              <a:solidFill>
                <a:srgbClr val="0B1F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Subscribed</c:v>
                </c:pt>
                <c:pt idx="1">
                  <c:v>Not subscribed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1053</c:v>
                </c:pt>
                <c:pt idx="1">
                  <c:v>2847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A1F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Share of purchases with a discount applied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</c:v>
                </c:pt>
              </c:strCache>
            </c:strRef>
          </c:tx>
          <c:spPr>
            <a:solidFill>
              <a:srgbClr val="E6338A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F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A1F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Customers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5C"/>
              </a:solidFill>
              <a:effectLst/>
            </c:spPr>
          </c:dPt>
          <c:dPt>
            <c:idx val="1"/>
            <c:bubble3D val="0"/>
            <c:spPr>
              <a:solidFill>
                <a:srgbClr val="E6338A"/>
              </a:solidFill>
              <a:effectLst/>
            </c:spPr>
          </c:dPt>
          <c:dPt>
            <c:idx val="2"/>
            <c:bubble3D val="0"/>
            <c:spPr>
              <a:solidFill>
                <a:srgbClr val="6B7FD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A1F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Customers with more than 5 previous purchases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buyers</c:v>
                </c:pt>
              </c:strCache>
            </c:strRef>
          </c:tx>
          <c:spPr>
            <a:solidFill>
              <a:srgbClr val="0B1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F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1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3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subscribed</c:v>
                  </c:pt>
                  <c:pt idx="1">
                    <c:v>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2518</c:v>
                </c:pt>
                <c:pt idx="1">
                  <c:v>958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A1F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28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280"/>
                </a:solidFill>
                <a:latin typeface="+mn-lt"/>
              </a:rPr>
              <a:t>Total revenue by age group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1F5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F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A1F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F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analysis of 3,900 retail transactions using Python, PostgreSQL and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numbers: 3,900 purchases, 18 columns, an average purchase of $59.76 and an average review rating of 3.75.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3,900 rows and 18 columns grouped into demographics, purchase details and shopping behavior. Only Review Rating had missing values (37).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stages: Python for preparation, PostgreSQL for analysis and Power BI for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cleaning and preparation steps before the data was loaded into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Revenue by gender. Male customers account for roughly two-thirds of total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Q2: 839 customers received a discount and still spent more than the average purchase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Top five products by average review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Q4: Express shipping customers spend slightly more per purchase than Standard shipping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Q5: Subscribers spend about the same as non-subscribers per purchase, and only 27% of customers are subscribed.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Q6: The five products with the highest percentage of purchases with a discount 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Q7: Customers segmented by previous purchases. About 80 percent are Loyal.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Q8: The most purchased products within each category, ranked by number of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Q9: Repeat buyers are not more likely to subscribe; most of them are still non-subscribers.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Q10: Revenue contribution of each age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dashboard: KPI cards on top, then subscription share, category and age group charts, with slicers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headline findings from the SQL analysis and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five actions that follow from the analysis,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Customer Shopping Behavior Analysis  |  Piyush Jha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Customer Shopping Behavior Analysis  |  Piyush Jha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Customer Shopping Behavior Analysis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Python  |  PostgreSQL  |  Power BI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Piyush Jha  |  Data Analyst</a:t>
            </a:r>
            <a:endParaRPr lang="en-US" sz="2000" dirty="0"/>
          </a:p>
        </p:txBody>
      </p:sp>
      <p:sp>
        <p:nvSpPr>
          <p:cNvPr id="4" name="Hero circle"/>
          <p:cNvSpPr/>
          <p:nvPr/>
        </p:nvSpPr>
        <p:spPr>
          <a:xfrm>
            <a:off x="7955280" y="1188720"/>
            <a:ext cx="3840480" cy="3840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ero chart icon" descr="Bar ch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331720"/>
            <a:ext cx="1554480" cy="1554480"/>
          </a:xfrm>
          <a:prstGeom prst="rect">
            <a:avLst/>
          </a:prstGeom>
        </p:spPr>
      </p:pic>
      <p:sp>
        <p:nvSpPr>
          <p:cNvPr id="6" name="Database icon circle"/>
          <p:cNvSpPr/>
          <p:nvPr/>
        </p:nvSpPr>
        <p:spPr>
          <a:xfrm>
            <a:off x="7589520" y="429768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Database icon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3" y="4582973"/>
            <a:ext cx="618134" cy="618134"/>
          </a:xfrm>
          <a:prstGeom prst="rect">
            <a:avLst/>
          </a:prstGeom>
        </p:spPr>
      </p:pic>
      <p:sp>
        <p:nvSpPr>
          <p:cNvPr id="8" name="Python icon circle"/>
          <p:cNvSpPr/>
          <p:nvPr/>
        </p:nvSpPr>
        <p:spPr>
          <a:xfrm>
            <a:off x="10607040" y="82296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Python icon" descr="Pyth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42" y="1064362"/>
            <a:ext cx="523037" cy="5230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Overview text"/>
          <p:cNvSpPr txBox="1"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Analyzed transactional data from 3,900 purchases across product categories to uncover spending patterns, customer segments, product preferences and subscription behavior, and to guide strategic business decisions.</a:t>
            </a:r>
            <a:endParaRPr lang="en-US" sz="2000" dirty="0"/>
          </a:p>
        </p:txBody>
      </p:sp>
      <p:sp>
        <p:nvSpPr>
          <p:cNvPr id="4" name="KPI card 1"/>
          <p:cNvSpPr/>
          <p:nvPr/>
        </p:nvSpPr>
        <p:spPr>
          <a:xfrm>
            <a:off x="548640" y="292608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KPI icon 1 circle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KPI icon 1" descr="KPI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354019"/>
            <a:ext cx="332842" cy="332842"/>
          </a:xfrm>
          <a:prstGeom prst="rect">
            <a:avLst/>
          </a:prstGeom>
        </p:spPr>
      </p:pic>
      <p:sp>
        <p:nvSpPr>
          <p:cNvPr id="7" name="KPI value 1"/>
          <p:cNvSpPr txBox="1"/>
          <p:nvPr/>
        </p:nvSpPr>
        <p:spPr>
          <a:xfrm>
            <a:off x="822960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3,900</a:t>
            </a:r>
            <a:endParaRPr lang="en-US" sz="4800" dirty="0"/>
          </a:p>
        </p:txBody>
      </p:sp>
      <p:sp>
        <p:nvSpPr>
          <p:cNvPr id="8" name="KPI label 1"/>
          <p:cNvSpPr txBox="1"/>
          <p:nvPr/>
        </p:nvSpPr>
        <p:spPr>
          <a:xfrm>
            <a:off x="822960" y="5029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Purchases analyzed</a:t>
            </a:r>
            <a:endParaRPr lang="en-US" sz="1600" dirty="0"/>
          </a:p>
        </p:txBody>
      </p:sp>
      <p:sp>
        <p:nvSpPr>
          <p:cNvPr id="9" name="KPI card 2"/>
          <p:cNvSpPr/>
          <p:nvPr/>
        </p:nvSpPr>
        <p:spPr>
          <a:xfrm>
            <a:off x="3392424" y="292608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KPI icon 2 circle"/>
          <p:cNvSpPr/>
          <p:nvPr/>
        </p:nvSpPr>
        <p:spPr>
          <a:xfrm>
            <a:off x="3666744" y="3200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KPI icon 2" descr="KPI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363" y="3354019"/>
            <a:ext cx="332842" cy="332842"/>
          </a:xfrm>
          <a:prstGeom prst="rect">
            <a:avLst/>
          </a:prstGeom>
        </p:spPr>
      </p:pic>
      <p:sp>
        <p:nvSpPr>
          <p:cNvPr id="12" name="KPI value 2"/>
          <p:cNvSpPr txBox="1"/>
          <p:nvPr/>
        </p:nvSpPr>
        <p:spPr>
          <a:xfrm>
            <a:off x="3666744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18</a:t>
            </a:r>
            <a:endParaRPr lang="en-US" sz="4800" dirty="0"/>
          </a:p>
        </p:txBody>
      </p:sp>
      <p:sp>
        <p:nvSpPr>
          <p:cNvPr id="13" name="KPI label 2"/>
          <p:cNvSpPr txBox="1"/>
          <p:nvPr/>
        </p:nvSpPr>
        <p:spPr>
          <a:xfrm>
            <a:off x="3666744" y="5029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Columns in the dataset</a:t>
            </a:r>
            <a:endParaRPr lang="en-US" sz="1600" dirty="0"/>
          </a:p>
        </p:txBody>
      </p:sp>
      <p:sp>
        <p:nvSpPr>
          <p:cNvPr id="14" name="KPI card 3"/>
          <p:cNvSpPr/>
          <p:nvPr/>
        </p:nvSpPr>
        <p:spPr>
          <a:xfrm>
            <a:off x="6236208" y="292608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KPI icon 3 circle"/>
          <p:cNvSpPr/>
          <p:nvPr/>
        </p:nvSpPr>
        <p:spPr>
          <a:xfrm>
            <a:off x="6510528" y="32004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KPI icon 3" descr="KPI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147" y="3354019"/>
            <a:ext cx="332842" cy="332842"/>
          </a:xfrm>
          <a:prstGeom prst="rect">
            <a:avLst/>
          </a:prstGeom>
        </p:spPr>
      </p:pic>
      <p:sp>
        <p:nvSpPr>
          <p:cNvPr id="17" name="KPI value 3"/>
          <p:cNvSpPr txBox="1"/>
          <p:nvPr/>
        </p:nvSpPr>
        <p:spPr>
          <a:xfrm>
            <a:off x="6510528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$59.76</a:t>
            </a:r>
            <a:endParaRPr lang="en-US" sz="4800" dirty="0"/>
          </a:p>
        </p:txBody>
      </p:sp>
      <p:sp>
        <p:nvSpPr>
          <p:cNvPr id="18" name="KPI label 3"/>
          <p:cNvSpPr txBox="1"/>
          <p:nvPr/>
        </p:nvSpPr>
        <p:spPr>
          <a:xfrm>
            <a:off x="6510528" y="5029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Average purchase amount</a:t>
            </a:r>
            <a:endParaRPr lang="en-US" sz="1600" dirty="0"/>
          </a:p>
        </p:txBody>
      </p:sp>
      <p:sp>
        <p:nvSpPr>
          <p:cNvPr id="19" name="KPI card 4"/>
          <p:cNvSpPr/>
          <p:nvPr/>
        </p:nvSpPr>
        <p:spPr>
          <a:xfrm>
            <a:off x="9079992" y="292608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0" name="KPI icon 4 circle"/>
          <p:cNvSpPr/>
          <p:nvPr/>
        </p:nvSpPr>
        <p:spPr>
          <a:xfrm>
            <a:off x="9354312" y="3200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KPI icon 4" descr="KPI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931" y="3354019"/>
            <a:ext cx="332842" cy="332842"/>
          </a:xfrm>
          <a:prstGeom prst="rect">
            <a:avLst/>
          </a:prstGeom>
        </p:spPr>
      </p:pic>
      <p:sp>
        <p:nvSpPr>
          <p:cNvPr id="22" name="KPI value 4"/>
          <p:cNvSpPr txBox="1"/>
          <p:nvPr/>
        </p:nvSpPr>
        <p:spPr>
          <a:xfrm>
            <a:off x="9354312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3.75</a:t>
            </a:r>
            <a:endParaRPr lang="en-US" sz="4800" dirty="0"/>
          </a:p>
        </p:txBody>
      </p:sp>
      <p:sp>
        <p:nvSpPr>
          <p:cNvPr id="23" name="KPI label 4"/>
          <p:cNvSpPr txBox="1"/>
          <p:nvPr/>
        </p:nvSpPr>
        <p:spPr>
          <a:xfrm>
            <a:off x="9354312" y="5029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Average review rating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Dataset at a glance</a:t>
            </a:r>
            <a:endParaRPr lang="en-US" sz="3600" dirty="0"/>
          </a:p>
        </p:txBody>
      </p:sp>
      <p:sp>
        <p:nvSpPr>
          <p:cNvPr id="3" name="Dataset card 1"/>
          <p:cNvSpPr/>
          <p:nvPr/>
        </p:nvSpPr>
        <p:spPr>
          <a:xfrm>
            <a:off x="54864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Dataset icon 1 circle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Dataset icon 1" descr="Datase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56616" cy="356616"/>
          </a:xfrm>
          <a:prstGeom prst="rect">
            <a:avLst/>
          </a:prstGeom>
        </p:spPr>
      </p:pic>
      <p:sp>
        <p:nvSpPr>
          <p:cNvPr id="6" name="Dataset heading 1"/>
          <p:cNvSpPr txBox="1"/>
          <p:nvPr/>
        </p:nvSpPr>
        <p:spPr>
          <a:xfrm>
            <a:off x="8686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Customer demographics</a:t>
            </a:r>
            <a:endParaRPr lang="en-US" sz="2000" dirty="0"/>
          </a:p>
        </p:txBody>
      </p:sp>
      <p:sp>
        <p:nvSpPr>
          <p:cNvPr id="7" name="Dataset list 1"/>
          <p:cNvSpPr txBox="1"/>
          <p:nvPr/>
        </p:nvSpPr>
        <p:spPr>
          <a:xfrm>
            <a:off x="868680" y="31089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Gender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Location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Subscription status</a:t>
            </a:r>
            <a:endParaRPr lang="en-US" sz="1600" dirty="0"/>
          </a:p>
        </p:txBody>
      </p:sp>
      <p:sp>
        <p:nvSpPr>
          <p:cNvPr id="8" name="Dataset card 2"/>
          <p:cNvSpPr/>
          <p:nvPr/>
        </p:nvSpPr>
        <p:spPr>
          <a:xfrm>
            <a:off x="429768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Dataset icon 2 circle"/>
          <p:cNvSpPr/>
          <p:nvPr/>
        </p:nvSpPr>
        <p:spPr>
          <a:xfrm>
            <a:off x="4617720" y="1737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Dataset icon 2" descr="Datase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901952"/>
            <a:ext cx="356616" cy="356616"/>
          </a:xfrm>
          <a:prstGeom prst="rect">
            <a:avLst/>
          </a:prstGeom>
        </p:spPr>
      </p:pic>
      <p:sp>
        <p:nvSpPr>
          <p:cNvPr id="11" name="Dataset heading 2"/>
          <p:cNvSpPr txBox="1"/>
          <p:nvPr/>
        </p:nvSpPr>
        <p:spPr>
          <a:xfrm>
            <a:off x="46177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Purchase details</a:t>
            </a:r>
            <a:endParaRPr lang="en-US" sz="2000" dirty="0"/>
          </a:p>
        </p:txBody>
      </p:sp>
      <p:sp>
        <p:nvSpPr>
          <p:cNvPr id="12" name="Dataset list 2"/>
          <p:cNvSpPr txBox="1"/>
          <p:nvPr/>
        </p:nvSpPr>
        <p:spPr>
          <a:xfrm>
            <a:off x="4617720" y="31089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Item purchased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Category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Purchase amount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Season, size, color</a:t>
            </a:r>
            <a:endParaRPr lang="en-US" sz="1600" dirty="0"/>
          </a:p>
        </p:txBody>
      </p:sp>
      <p:sp>
        <p:nvSpPr>
          <p:cNvPr id="13" name="Dataset card 3"/>
          <p:cNvSpPr/>
          <p:nvPr/>
        </p:nvSpPr>
        <p:spPr>
          <a:xfrm>
            <a:off x="804672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Dataset icon 3 circle"/>
          <p:cNvSpPr/>
          <p:nvPr/>
        </p:nvSpPr>
        <p:spPr>
          <a:xfrm>
            <a:off x="8366760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Dataset icon 3" descr="Datase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901952"/>
            <a:ext cx="356616" cy="356616"/>
          </a:xfrm>
          <a:prstGeom prst="rect">
            <a:avLst/>
          </a:prstGeom>
        </p:spPr>
      </p:pic>
      <p:sp>
        <p:nvSpPr>
          <p:cNvPr id="16" name="Dataset heading 3"/>
          <p:cNvSpPr txBox="1"/>
          <p:nvPr/>
        </p:nvSpPr>
        <p:spPr>
          <a:xfrm>
            <a:off x="836676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Shopping behavior</a:t>
            </a:r>
            <a:endParaRPr lang="en-US" sz="2000" dirty="0"/>
          </a:p>
        </p:txBody>
      </p:sp>
      <p:sp>
        <p:nvSpPr>
          <p:cNvPr id="17" name="Dataset list 3"/>
          <p:cNvSpPr txBox="1"/>
          <p:nvPr/>
        </p:nvSpPr>
        <p:spPr>
          <a:xfrm>
            <a:off x="8366760" y="31089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Discount applied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Promo code used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Previous purchases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Purchase frequency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rating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Shipping type</a:t>
            </a:r>
            <a:endParaRPr lang="en-US" sz="1600" dirty="0"/>
          </a:p>
        </p:txBody>
      </p:sp>
      <p:sp>
        <p:nvSpPr>
          <p:cNvPr id="18" name="Data quality note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9" name="Data quality text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quality: 37 missing values in the Review Rating column, handled during cleaning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End-to-end analytics pipeline</a:t>
            </a:r>
            <a:endParaRPr lang="en-US" sz="3600" dirty="0"/>
          </a:p>
        </p:txBody>
      </p:sp>
      <p:sp>
        <p:nvSpPr>
          <p:cNvPr id="3" name="Pipeline card 1"/>
          <p:cNvSpPr/>
          <p:nvPr/>
        </p:nvSpPr>
        <p:spPr>
          <a:xfrm>
            <a:off x="54864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Pipeline icon 1 circle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Pipeline icon 1" descr="Pipelin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048256"/>
            <a:ext cx="475488" cy="475488"/>
          </a:xfrm>
          <a:prstGeom prst="rect">
            <a:avLst/>
          </a:prstGeom>
        </p:spPr>
      </p:pic>
      <p:sp>
        <p:nvSpPr>
          <p:cNvPr id="6" name="Pipeline step 1"/>
          <p:cNvSpPr txBox="1"/>
          <p:nvPr/>
        </p:nvSpPr>
        <p:spPr>
          <a:xfrm>
            <a:off x="91440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Step 1</a:t>
            </a:r>
            <a:endParaRPr lang="en-US" sz="1400" dirty="0"/>
          </a:p>
        </p:txBody>
      </p:sp>
      <p:sp>
        <p:nvSpPr>
          <p:cNvPr id="7" name="Pipeline name 1"/>
          <p:cNvSpPr txBox="1"/>
          <p:nvPr/>
        </p:nvSpPr>
        <p:spPr>
          <a:xfrm>
            <a:off x="91440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Python</a:t>
            </a:r>
            <a:endParaRPr lang="en-US" sz="2800" dirty="0"/>
          </a:p>
        </p:txBody>
      </p:sp>
      <p:sp>
        <p:nvSpPr>
          <p:cNvPr id="8" name="Pipeline role 1"/>
          <p:cNvSpPr txBox="1"/>
          <p:nvPr/>
        </p:nvSpPr>
        <p:spPr>
          <a:xfrm>
            <a:off x="91440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Clean and prepare</a:t>
            </a:r>
            <a:endParaRPr lang="en-US" sz="1600" dirty="0"/>
          </a:p>
        </p:txBody>
      </p:sp>
      <p:sp>
        <p:nvSpPr>
          <p:cNvPr id="9" name="Pipeline desc 1"/>
          <p:cNvSpPr txBox="1"/>
          <p:nvPr/>
        </p:nvSpPr>
        <p:spPr>
          <a:xfrm>
            <a:off x="914400" y="4343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Load with pandas, fix missing values, standardize columns and engineer new features.</a:t>
            </a:r>
            <a:endParaRPr lang="en-US" sz="1500" dirty="0"/>
          </a:p>
        </p:txBody>
      </p:sp>
      <p:sp>
        <p:nvSpPr>
          <p:cNvPr id="10" name="Pipeline arrow 1"/>
          <p:cNvSpPr/>
          <p:nvPr/>
        </p:nvSpPr>
        <p:spPr>
          <a:xfrm>
            <a:off x="4005072" y="3383280"/>
            <a:ext cx="310896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Pipeline card 2"/>
          <p:cNvSpPr/>
          <p:nvPr/>
        </p:nvSpPr>
        <p:spPr>
          <a:xfrm>
            <a:off x="438912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Pipeline icon 2 circle"/>
          <p:cNvSpPr/>
          <p:nvPr/>
        </p:nvSpPr>
        <p:spPr>
          <a:xfrm>
            <a:off x="47548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Pipeline icon 2" descr="Pipelin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048256"/>
            <a:ext cx="475488" cy="475488"/>
          </a:xfrm>
          <a:prstGeom prst="rect">
            <a:avLst/>
          </a:prstGeom>
        </p:spPr>
      </p:pic>
      <p:sp>
        <p:nvSpPr>
          <p:cNvPr id="14" name="Pipeline step 2"/>
          <p:cNvSpPr txBox="1"/>
          <p:nvPr/>
        </p:nvSpPr>
        <p:spPr>
          <a:xfrm>
            <a:off x="475488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Step 2</a:t>
            </a:r>
            <a:endParaRPr lang="en-US" sz="1400" dirty="0"/>
          </a:p>
        </p:txBody>
      </p:sp>
      <p:sp>
        <p:nvSpPr>
          <p:cNvPr id="15" name="Pipeline name 2"/>
          <p:cNvSpPr txBox="1"/>
          <p:nvPr/>
        </p:nvSpPr>
        <p:spPr>
          <a:xfrm>
            <a:off x="475488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PostgreSQL</a:t>
            </a:r>
            <a:endParaRPr lang="en-US" sz="2800" dirty="0"/>
          </a:p>
        </p:txBody>
      </p:sp>
      <p:sp>
        <p:nvSpPr>
          <p:cNvPr id="16" name="Pipeline role 2"/>
          <p:cNvSpPr txBox="1"/>
          <p:nvPr/>
        </p:nvSpPr>
        <p:spPr>
          <a:xfrm>
            <a:off x="475488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Answer business questions</a:t>
            </a:r>
            <a:endParaRPr lang="en-US" sz="1600" dirty="0"/>
          </a:p>
        </p:txBody>
      </p:sp>
      <p:sp>
        <p:nvSpPr>
          <p:cNvPr id="17" name="Pipeline desc 2"/>
          <p:cNvSpPr txBox="1"/>
          <p:nvPr/>
        </p:nvSpPr>
        <p:spPr>
          <a:xfrm>
            <a:off x="4754880" y="4343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 SQL queries on revenue, discounts, shipping, subscriptions and customer segments.</a:t>
            </a:r>
            <a:endParaRPr lang="en-US" sz="1500" dirty="0"/>
          </a:p>
        </p:txBody>
      </p:sp>
      <p:sp>
        <p:nvSpPr>
          <p:cNvPr id="18" name="Pipeline arrow 2"/>
          <p:cNvSpPr/>
          <p:nvPr/>
        </p:nvSpPr>
        <p:spPr>
          <a:xfrm>
            <a:off x="7845552" y="3383280"/>
            <a:ext cx="310896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9" name="Pipeline card 3"/>
          <p:cNvSpPr/>
          <p:nvPr/>
        </p:nvSpPr>
        <p:spPr>
          <a:xfrm>
            <a:off x="822960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20" name="Pipeline icon 3 circle"/>
          <p:cNvSpPr/>
          <p:nvPr/>
        </p:nvSpPr>
        <p:spPr>
          <a:xfrm>
            <a:off x="8595360" y="18288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Pipeline icon 3" descr="Pipelin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048256"/>
            <a:ext cx="475488" cy="475488"/>
          </a:xfrm>
          <a:prstGeom prst="rect">
            <a:avLst/>
          </a:prstGeom>
        </p:spPr>
      </p:pic>
      <p:sp>
        <p:nvSpPr>
          <p:cNvPr id="22" name="Pipeline step 3"/>
          <p:cNvSpPr txBox="1"/>
          <p:nvPr/>
        </p:nvSpPr>
        <p:spPr>
          <a:xfrm>
            <a:off x="859536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Step 3</a:t>
            </a:r>
            <a:endParaRPr lang="en-US" sz="1400" dirty="0"/>
          </a:p>
        </p:txBody>
      </p:sp>
      <p:sp>
        <p:nvSpPr>
          <p:cNvPr id="23" name="Pipeline name 3"/>
          <p:cNvSpPr txBox="1"/>
          <p:nvPr/>
        </p:nvSpPr>
        <p:spPr>
          <a:xfrm>
            <a:off x="859536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Power BI</a:t>
            </a:r>
            <a:endParaRPr lang="en-US" sz="2800" dirty="0"/>
          </a:p>
        </p:txBody>
      </p:sp>
      <p:sp>
        <p:nvSpPr>
          <p:cNvPr id="24" name="Pipeline role 3"/>
          <p:cNvSpPr txBox="1"/>
          <p:nvPr/>
        </p:nvSpPr>
        <p:spPr>
          <a:xfrm>
            <a:off x="859536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Present insights</a:t>
            </a:r>
            <a:endParaRPr lang="en-US" sz="1600" dirty="0"/>
          </a:p>
        </p:txBody>
      </p:sp>
      <p:sp>
        <p:nvSpPr>
          <p:cNvPr id="25" name="Pipeline desc 3"/>
          <p:cNvSpPr txBox="1"/>
          <p:nvPr/>
        </p:nvSpPr>
        <p:spPr>
          <a:xfrm>
            <a:off x="8595360" y="4343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Interactive dashboard with KPIs, charts and filters for stakeholders.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preparation in Python</a:t>
            </a:r>
            <a:endParaRPr lang="en-US" sz="3600" dirty="0"/>
          </a:p>
        </p:txBody>
      </p:sp>
      <p:sp>
        <p:nvSpPr>
          <p:cNvPr id="3" name="Prep card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Prep icon 1 circle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Prep icon 1" descr="Pr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34286"/>
            <a:ext cx="309067" cy="309067"/>
          </a:xfrm>
          <a:prstGeom prst="rect">
            <a:avLst/>
          </a:prstGeom>
        </p:spPr>
      </p:pic>
      <p:sp>
        <p:nvSpPr>
          <p:cNvPr id="6" name="Prep heading 1"/>
          <p:cNvSpPr txBox="1"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Load and explore</a:t>
            </a:r>
            <a:endParaRPr lang="en-US" sz="1800" dirty="0"/>
          </a:p>
        </p:txBody>
      </p:sp>
      <p:sp>
        <p:nvSpPr>
          <p:cNvPr id="7" name="Prep desc 1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Imported with pandas and checked structure with df.info() and describe().</a:t>
            </a:r>
            <a:endParaRPr lang="en-US" sz="1400" dirty="0"/>
          </a:p>
        </p:txBody>
      </p:sp>
      <p:sp>
        <p:nvSpPr>
          <p:cNvPr id="8" name="Prep card 2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Prep icon 2 circle"/>
          <p:cNvSpPr/>
          <p:nvPr/>
        </p:nvSpPr>
        <p:spPr>
          <a:xfrm>
            <a:off x="4572000" y="1691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rep icon 2" descr="Pr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834286"/>
            <a:ext cx="309067" cy="309067"/>
          </a:xfrm>
          <a:prstGeom prst="rect">
            <a:avLst/>
          </a:prstGeom>
        </p:spPr>
      </p:pic>
      <p:sp>
        <p:nvSpPr>
          <p:cNvPr id="11" name="Prep heading 2"/>
          <p:cNvSpPr txBox="1"/>
          <p:nvPr/>
        </p:nvSpPr>
        <p:spPr>
          <a:xfrm>
            <a:off x="457200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Fix missing values</a:t>
            </a:r>
            <a:endParaRPr lang="en-US" sz="1800" dirty="0"/>
          </a:p>
        </p:txBody>
      </p:sp>
      <p:sp>
        <p:nvSpPr>
          <p:cNvPr id="12" name="Prep desc 2"/>
          <p:cNvSpPr txBox="1"/>
          <p:nvPr/>
        </p:nvSpPr>
        <p:spPr>
          <a:xfrm>
            <a:off x="457200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Imputed 37 missing Review Ratings using each product category's median.</a:t>
            </a:r>
            <a:endParaRPr lang="en-US" sz="1400" dirty="0"/>
          </a:p>
        </p:txBody>
      </p:sp>
      <p:sp>
        <p:nvSpPr>
          <p:cNvPr id="13" name="Prep card 3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Prep icon 3 circle"/>
          <p:cNvSpPr/>
          <p:nvPr/>
        </p:nvSpPr>
        <p:spPr>
          <a:xfrm>
            <a:off x="8321040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Prep icon 3" descr="Pr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1834286"/>
            <a:ext cx="309067" cy="309067"/>
          </a:xfrm>
          <a:prstGeom prst="rect">
            <a:avLst/>
          </a:prstGeom>
        </p:spPr>
      </p:pic>
      <p:sp>
        <p:nvSpPr>
          <p:cNvPr id="16" name="Prep heading 3"/>
          <p:cNvSpPr txBox="1"/>
          <p:nvPr/>
        </p:nvSpPr>
        <p:spPr>
          <a:xfrm>
            <a:off x="832104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Standardize columns</a:t>
            </a:r>
            <a:endParaRPr lang="en-US" sz="1800" dirty="0"/>
          </a:p>
        </p:txBody>
      </p:sp>
      <p:sp>
        <p:nvSpPr>
          <p:cNvPr id="17" name="Prep desc 3"/>
          <p:cNvSpPr txBox="1"/>
          <p:nvPr/>
        </p:nvSpPr>
        <p:spPr>
          <a:xfrm>
            <a:off x="832104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Renamed all columns to snake_case for readability and documentation.</a:t>
            </a:r>
            <a:endParaRPr lang="en-US" sz="1400" dirty="0"/>
          </a:p>
        </p:txBody>
      </p:sp>
      <p:sp>
        <p:nvSpPr>
          <p:cNvPr id="18" name="Prep card 4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Prep icon 4 circle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rep icon 4" descr="Pr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211726"/>
            <a:ext cx="309067" cy="309067"/>
          </a:xfrm>
          <a:prstGeom prst="rect">
            <a:avLst/>
          </a:prstGeom>
        </p:spPr>
      </p:pic>
      <p:sp>
        <p:nvSpPr>
          <p:cNvPr id="21" name="Prep heading 4"/>
          <p:cNvSpPr txBox="1"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Engineer features</a:t>
            </a:r>
            <a:endParaRPr lang="en-US" sz="1800" dirty="0"/>
          </a:p>
        </p:txBody>
      </p:sp>
      <p:sp>
        <p:nvSpPr>
          <p:cNvPr id="22" name="Prep desc 4"/>
          <p:cNvSpPr txBox="1"/>
          <p:nvPr/>
        </p:nvSpPr>
        <p:spPr>
          <a:xfrm>
            <a:off x="8229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age_group by binning ages, and purchase_frequency_days.</a:t>
            </a:r>
            <a:endParaRPr lang="en-US" sz="1400" dirty="0"/>
          </a:p>
        </p:txBody>
      </p:sp>
      <p:sp>
        <p:nvSpPr>
          <p:cNvPr id="23" name="Prep card 5"/>
          <p:cNvSpPr/>
          <p:nvPr/>
        </p:nvSpPr>
        <p:spPr>
          <a:xfrm>
            <a:off x="429768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Prep icon 5 circle"/>
          <p:cNvSpPr/>
          <p:nvPr/>
        </p:nvSpPr>
        <p:spPr>
          <a:xfrm>
            <a:off x="4572000" y="40690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Prep icon 5" descr="Prep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211726"/>
            <a:ext cx="309067" cy="309067"/>
          </a:xfrm>
          <a:prstGeom prst="rect">
            <a:avLst/>
          </a:prstGeom>
        </p:spPr>
      </p:pic>
      <p:sp>
        <p:nvSpPr>
          <p:cNvPr id="26" name="Prep heading 5"/>
          <p:cNvSpPr txBox="1"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Remove redundancy</a:t>
            </a:r>
            <a:endParaRPr lang="en-US" sz="1800" dirty="0"/>
          </a:p>
        </p:txBody>
      </p:sp>
      <p:sp>
        <p:nvSpPr>
          <p:cNvPr id="27" name="Prep desc 5"/>
          <p:cNvSpPr txBox="1"/>
          <p:nvPr/>
        </p:nvSpPr>
        <p:spPr>
          <a:xfrm>
            <a:off x="457200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Dropped promo_code_used because it duplicated discount_applied.</a:t>
            </a:r>
            <a:endParaRPr lang="en-US" sz="1400" dirty="0"/>
          </a:p>
        </p:txBody>
      </p:sp>
      <p:sp>
        <p:nvSpPr>
          <p:cNvPr id="28" name="Prep card 6"/>
          <p:cNvSpPr/>
          <p:nvPr/>
        </p:nvSpPr>
        <p:spPr>
          <a:xfrm>
            <a:off x="804672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Prep icon 6 circle"/>
          <p:cNvSpPr/>
          <p:nvPr/>
        </p:nvSpPr>
        <p:spPr>
          <a:xfrm>
            <a:off x="8321040" y="4069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Prep icon 6" descr="Prep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211726"/>
            <a:ext cx="309067" cy="309067"/>
          </a:xfrm>
          <a:prstGeom prst="rect">
            <a:avLst/>
          </a:prstGeom>
        </p:spPr>
      </p:pic>
      <p:sp>
        <p:nvSpPr>
          <p:cNvPr id="31" name="Prep heading 6"/>
          <p:cNvSpPr txBox="1"/>
          <p:nvPr/>
        </p:nvSpPr>
        <p:spPr>
          <a:xfrm>
            <a:off x="83210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Load to PostgreSQL</a:t>
            </a:r>
            <a:endParaRPr lang="en-US" sz="1800" dirty="0"/>
          </a:p>
        </p:txBody>
      </p:sp>
      <p:sp>
        <p:nvSpPr>
          <p:cNvPr id="32" name="Prep desc 6"/>
          <p:cNvSpPr txBox="1"/>
          <p:nvPr/>
        </p:nvSpPr>
        <p:spPr>
          <a:xfrm>
            <a:off x="832104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Pushed the cleaned DataFrame into the database for SQL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Male customers drive 68% of revenue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Gender panel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Gender stat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68%</a:t>
            </a:r>
            <a:endParaRPr lang="en-US" sz="5400" dirty="0"/>
          </a:p>
        </p:txBody>
      </p:sp>
      <p:sp>
        <p:nvSpPr>
          <p:cNvPr id="6" name="Gender label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of total revenue comes from male customers</a:t>
            </a:r>
            <a:endParaRPr lang="en-US" sz="1800" dirty="0"/>
          </a:p>
        </p:txBody>
      </p:sp>
      <p:sp>
        <p:nvSpPr>
          <p:cNvPr id="7" name="Gender takeaway"/>
          <p:cNvSpPr txBox="1"/>
          <p:nvPr/>
        </p:nvSpPr>
        <p:spPr>
          <a:xfrm>
            <a:off x="822960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Male customers generated $157,890 against $75,191 from female customers, out of $233,081 in total revenue.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Discount users still spend above average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iscount spenders panel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Discount spenders stat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839</a:t>
            </a:r>
            <a:endParaRPr lang="en-US" sz="5400" dirty="0"/>
          </a:p>
        </p:txBody>
      </p:sp>
      <p:sp>
        <p:nvSpPr>
          <p:cNvPr id="6" name="Discount spenders label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customers used a discount and still spent above the $59.76 average</a:t>
            </a:r>
            <a:endParaRPr lang="en-US" sz="1800" dirty="0"/>
          </a:p>
        </p:txBody>
      </p:sp>
      <p:sp>
        <p:nvSpPr>
          <p:cNvPr id="7" name="Discount spenders takeaway"/>
          <p:cNvSpPr txBox="1"/>
          <p:nvPr/>
        </p:nvSpPr>
        <p:spPr>
          <a:xfrm>
            <a:off x="822960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That is about 21.5% of all customers. A discount does not always mean a low-value purchase.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Gloves, sandals and boots rate highest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ating panel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Rating stat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3.86</a:t>
            </a:r>
            <a:endParaRPr lang="en-US" sz="5400" dirty="0"/>
          </a:p>
        </p:txBody>
      </p:sp>
      <p:sp>
        <p:nvSpPr>
          <p:cNvPr id="6" name="Rating label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Gloves are the top-rated product</a:t>
            </a:r>
            <a:endParaRPr lang="en-US" sz="1800" dirty="0"/>
          </a:p>
        </p:txBody>
      </p:sp>
      <p:sp>
        <p:nvSpPr>
          <p:cNvPr id="7" name="Rating takeaway"/>
          <p:cNvSpPr txBox="1"/>
          <p:nvPr/>
        </p:nvSpPr>
        <p:spPr>
          <a:xfrm>
            <a:off x="822960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top five products sit in a tight band from 3.78 to 3.86, above the overall average rating of 3.75.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Express shipping lifts spend by $2.02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ipping panel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Shipping stat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+3.5%</a:t>
            </a:r>
            <a:endParaRPr lang="en-US" sz="5400" dirty="0"/>
          </a:p>
        </p:txBody>
      </p:sp>
      <p:sp>
        <p:nvSpPr>
          <p:cNvPr id="6" name="Shipping label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higher average purchase with Express shipping</a:t>
            </a:r>
            <a:endParaRPr lang="en-US" sz="1800" dirty="0"/>
          </a:p>
        </p:txBody>
      </p:sp>
      <p:sp>
        <p:nvSpPr>
          <p:cNvPr id="7" name="Shipping takeaway"/>
          <p:cNvSpPr txBox="1"/>
          <p:nvPr/>
        </p:nvSpPr>
        <p:spPr>
          <a:xfrm>
            <a:off x="822960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Express customers spend $60.48 per purchase versus $58.46 for Standard shipping, which makes them a good group to target.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Subscribers do not spend more per order</a:t>
            </a:r>
            <a:endParaRPr lang="en-US" sz="3600" dirty="0"/>
          </a:p>
        </p:txBody>
      </p:sp>
      <p:graphicFrame>
        <p:nvGraphicFramePr>
          <p:cNvPr id="11" name="Subscrip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46304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Customers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Avg spend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 revenue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Subscribed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1,053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$59.49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$62,645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Not subscribed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2,847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$59.87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$170,436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ubscription takeaways"/>
          <p:cNvSpPr/>
          <p:nvPr/>
        </p:nvSpPr>
        <p:spPr>
          <a:xfrm>
            <a:off x="548640" y="3657600"/>
            <a:ext cx="6949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Subscription bullets"/>
          <p:cNvSpPr txBox="1"/>
          <p:nvPr/>
        </p:nvSpPr>
        <p:spPr>
          <a:xfrm>
            <a:off x="868680" y="384048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Average spend is nearly identical: $59.49 versus $59.87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Subscribers contribute 27% of revenue ($62,645 of $233,081)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73% of customers have not subscribed, a large growth opportunity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863840" y="1463040"/>
          <a:ext cx="3749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Hats are the most discount-dependent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iscount rate panel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Discount rate stat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50%</a:t>
            </a:r>
            <a:endParaRPr lang="en-US" sz="5400" dirty="0"/>
          </a:p>
        </p:txBody>
      </p:sp>
      <p:sp>
        <p:nvSpPr>
          <p:cNvPr id="6" name="Discount rate label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of Hat purchases used a discount</a:t>
            </a:r>
            <a:endParaRPr lang="en-US" sz="1800" dirty="0"/>
          </a:p>
        </p:txBody>
      </p:sp>
      <p:sp>
        <p:nvSpPr>
          <p:cNvPr id="7" name="Discount rate takeaway"/>
          <p:cNvSpPr txBox="1"/>
          <p:nvPr/>
        </p:nvSpPr>
        <p:spPr>
          <a:xfrm>
            <a:off x="822960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Nearly half of all purchases of these five products rely on a discount, so the discount policy needs a margin check.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Four in five customers are Loyal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egment card Loyal"/>
          <p:cNvSpPr/>
          <p:nvPr/>
        </p:nvSpPr>
        <p:spPr>
          <a:xfrm>
            <a:off x="7863840" y="146304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Segment dot Loyal"/>
          <p:cNvSpPr/>
          <p:nvPr/>
        </p:nvSpPr>
        <p:spPr>
          <a:xfrm>
            <a:off x="8138160" y="19659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Segment name Loyal"/>
          <p:cNvSpPr txBox="1"/>
          <p:nvPr/>
        </p:nvSpPr>
        <p:spPr>
          <a:xfrm>
            <a:off x="868680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Loyal</a:t>
            </a:r>
            <a:endParaRPr lang="en-US" sz="1800" dirty="0"/>
          </a:p>
        </p:txBody>
      </p:sp>
      <p:sp>
        <p:nvSpPr>
          <p:cNvPr id="7" name="Segment rule Loyal"/>
          <p:cNvSpPr txBox="1"/>
          <p:nvPr/>
        </p:nvSpPr>
        <p:spPr>
          <a:xfrm>
            <a:off x="868680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More than 10 previous purchases</a:t>
            </a:r>
            <a:endParaRPr lang="en-US" sz="1400" dirty="0"/>
          </a:p>
        </p:txBody>
      </p:sp>
      <p:sp>
        <p:nvSpPr>
          <p:cNvPr id="8" name="Segment count Loyal"/>
          <p:cNvSpPr txBox="1"/>
          <p:nvPr/>
        </p:nvSpPr>
        <p:spPr>
          <a:xfrm>
            <a:off x="996696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3,116  (80%)</a:t>
            </a:r>
            <a:endParaRPr lang="en-US" sz="1600" dirty="0"/>
          </a:p>
        </p:txBody>
      </p:sp>
      <p:sp>
        <p:nvSpPr>
          <p:cNvPr id="9" name="Segment card Returning"/>
          <p:cNvSpPr/>
          <p:nvPr/>
        </p:nvSpPr>
        <p:spPr>
          <a:xfrm>
            <a:off x="7863840" y="301752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Segment dot Returning"/>
          <p:cNvSpPr/>
          <p:nvPr/>
        </p:nvSpPr>
        <p:spPr>
          <a:xfrm>
            <a:off x="8138160" y="35204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Segment name Returning"/>
          <p:cNvSpPr txBox="1"/>
          <p:nvPr/>
        </p:nvSpPr>
        <p:spPr>
          <a:xfrm>
            <a:off x="86868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Returning</a:t>
            </a:r>
            <a:endParaRPr lang="en-US" sz="1800" dirty="0"/>
          </a:p>
        </p:txBody>
      </p:sp>
      <p:sp>
        <p:nvSpPr>
          <p:cNvPr id="12" name="Segment rule Returning"/>
          <p:cNvSpPr txBox="1"/>
          <p:nvPr/>
        </p:nvSpPr>
        <p:spPr>
          <a:xfrm>
            <a:off x="868680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 to 10 previous purchases</a:t>
            </a:r>
            <a:endParaRPr lang="en-US" sz="1400" dirty="0"/>
          </a:p>
        </p:txBody>
      </p:sp>
      <p:sp>
        <p:nvSpPr>
          <p:cNvPr id="13" name="Segment count Returning"/>
          <p:cNvSpPr txBox="1"/>
          <p:nvPr/>
        </p:nvSpPr>
        <p:spPr>
          <a:xfrm>
            <a:off x="996696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701  (18%)</a:t>
            </a:r>
            <a:endParaRPr lang="en-US" sz="1600" dirty="0"/>
          </a:p>
        </p:txBody>
      </p:sp>
      <p:sp>
        <p:nvSpPr>
          <p:cNvPr id="14" name="Segment card New"/>
          <p:cNvSpPr/>
          <p:nvPr/>
        </p:nvSpPr>
        <p:spPr>
          <a:xfrm>
            <a:off x="7863840" y="457200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Segment dot New"/>
          <p:cNvSpPr/>
          <p:nvPr/>
        </p:nvSpPr>
        <p:spPr>
          <a:xfrm>
            <a:off x="8138160" y="50749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Segment name New"/>
          <p:cNvSpPr txBox="1"/>
          <p:nvPr/>
        </p:nvSpPr>
        <p:spPr>
          <a:xfrm>
            <a:off x="868680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New</a:t>
            </a:r>
            <a:endParaRPr lang="en-US" sz="1800" dirty="0"/>
          </a:p>
        </p:txBody>
      </p:sp>
      <p:sp>
        <p:nvSpPr>
          <p:cNvPr id="17" name="Segment rule New"/>
          <p:cNvSpPr txBox="1"/>
          <p:nvPr/>
        </p:nvSpPr>
        <p:spPr>
          <a:xfrm>
            <a:off x="8686800" y="5166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 previous purchase</a:t>
            </a:r>
            <a:endParaRPr lang="en-US" sz="1400" dirty="0"/>
          </a:p>
        </p:txBody>
      </p:sp>
      <p:sp>
        <p:nvSpPr>
          <p:cNvPr id="18" name="Segment count New"/>
          <p:cNvSpPr txBox="1"/>
          <p:nvPr/>
        </p:nvSpPr>
        <p:spPr>
          <a:xfrm>
            <a:off x="996696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83  (2%)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Top 3 products in each category</a:t>
            </a:r>
            <a:endParaRPr lang="en-US" sz="3600" dirty="0"/>
          </a:p>
        </p:txBody>
      </p:sp>
      <p:sp>
        <p:nvSpPr>
          <p:cNvPr id="3" name="Category card Accessories"/>
          <p:cNvSpPr/>
          <p:nvPr/>
        </p:nvSpPr>
        <p:spPr>
          <a:xfrm>
            <a:off x="54864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Category name Accessories"/>
          <p:cNvSpPr txBox="1"/>
          <p:nvPr/>
        </p:nvSpPr>
        <p:spPr>
          <a:xfrm>
            <a:off x="82296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Accessories</a:t>
            </a:r>
            <a:endParaRPr lang="en-US" sz="2200" dirty="0"/>
          </a:p>
        </p:txBody>
      </p:sp>
      <p:sp>
        <p:nvSpPr>
          <p:cNvPr id="5" name="Rank Accessories 1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Rank number Accessories 1"/>
          <p:cNvSpPr txBox="1"/>
          <p:nvPr/>
        </p:nvSpPr>
        <p:spPr>
          <a:xfrm>
            <a:off x="8229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roduct Accessories 1"/>
          <p:cNvSpPr txBox="1"/>
          <p:nvPr/>
        </p:nvSpPr>
        <p:spPr>
          <a:xfrm>
            <a:off x="150876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Jewelry</a:t>
            </a:r>
            <a:endParaRPr lang="en-US" sz="1800" dirty="0"/>
          </a:p>
        </p:txBody>
      </p:sp>
      <p:sp>
        <p:nvSpPr>
          <p:cNvPr id="8" name="Orders Accessories 1"/>
          <p:cNvSpPr txBox="1"/>
          <p:nvPr/>
        </p:nvSpPr>
        <p:spPr>
          <a:xfrm>
            <a:off x="1508760" y="2807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171 orders</a:t>
            </a:r>
            <a:endParaRPr lang="en-US" sz="1400" dirty="0"/>
          </a:p>
        </p:txBody>
      </p:sp>
      <p:sp>
        <p:nvSpPr>
          <p:cNvPr id="9" name="Rank Accessories 2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Rank number Accessories 2"/>
          <p:cNvSpPr txBox="1"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roduct Accessories 2"/>
          <p:cNvSpPr txBox="1"/>
          <p:nvPr/>
        </p:nvSpPr>
        <p:spPr>
          <a:xfrm>
            <a:off x="150876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Sunglasses</a:t>
            </a:r>
            <a:endParaRPr lang="en-US" sz="1800" dirty="0"/>
          </a:p>
        </p:txBody>
      </p:sp>
      <p:sp>
        <p:nvSpPr>
          <p:cNvPr id="12" name="Orders Accessories 2"/>
          <p:cNvSpPr txBox="1"/>
          <p:nvPr/>
        </p:nvSpPr>
        <p:spPr>
          <a:xfrm>
            <a:off x="150876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161 orders</a:t>
            </a:r>
            <a:endParaRPr lang="en-US" sz="1400" dirty="0"/>
          </a:p>
        </p:txBody>
      </p:sp>
      <p:sp>
        <p:nvSpPr>
          <p:cNvPr id="13" name="Rank Accessories 3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Rank number Accessories 3"/>
          <p:cNvSpPr txBox="1"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Product Accessories 3"/>
          <p:cNvSpPr txBox="1"/>
          <p:nvPr/>
        </p:nvSpPr>
        <p:spPr>
          <a:xfrm>
            <a:off x="150876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Belt</a:t>
            </a:r>
            <a:endParaRPr lang="en-US" sz="1800" dirty="0"/>
          </a:p>
        </p:txBody>
      </p:sp>
      <p:sp>
        <p:nvSpPr>
          <p:cNvPr id="16" name="Orders Accessories 3"/>
          <p:cNvSpPr txBox="1"/>
          <p:nvPr/>
        </p:nvSpPr>
        <p:spPr>
          <a:xfrm>
            <a:off x="1508760" y="5001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161 orders</a:t>
            </a:r>
            <a:endParaRPr lang="en-US" sz="1400" dirty="0"/>
          </a:p>
        </p:txBody>
      </p:sp>
      <p:sp>
        <p:nvSpPr>
          <p:cNvPr id="17" name="Category card Clothing"/>
          <p:cNvSpPr/>
          <p:nvPr/>
        </p:nvSpPr>
        <p:spPr>
          <a:xfrm>
            <a:off x="338328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8" name="Category name Clothing"/>
          <p:cNvSpPr txBox="1"/>
          <p:nvPr/>
        </p:nvSpPr>
        <p:spPr>
          <a:xfrm>
            <a:off x="365760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Clothing</a:t>
            </a:r>
            <a:endParaRPr lang="en-US" sz="2200" dirty="0"/>
          </a:p>
        </p:txBody>
      </p:sp>
      <p:sp>
        <p:nvSpPr>
          <p:cNvPr id="19" name="Rank Clothing 1"/>
          <p:cNvSpPr/>
          <p:nvPr/>
        </p:nvSpPr>
        <p:spPr>
          <a:xfrm>
            <a:off x="3657600" y="2514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Rank number Clothing 1"/>
          <p:cNvSpPr txBox="1"/>
          <p:nvPr/>
        </p:nvSpPr>
        <p:spPr>
          <a:xfrm>
            <a:off x="36576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Product Clothing 1"/>
          <p:cNvSpPr txBox="1"/>
          <p:nvPr/>
        </p:nvSpPr>
        <p:spPr>
          <a:xfrm>
            <a:off x="434340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Blouse</a:t>
            </a:r>
            <a:endParaRPr lang="en-US" sz="1800" dirty="0"/>
          </a:p>
        </p:txBody>
      </p:sp>
      <p:sp>
        <p:nvSpPr>
          <p:cNvPr id="22" name="Orders Clothing 1"/>
          <p:cNvSpPr txBox="1"/>
          <p:nvPr/>
        </p:nvSpPr>
        <p:spPr>
          <a:xfrm>
            <a:off x="4343400" y="2807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171 orders</a:t>
            </a:r>
            <a:endParaRPr lang="en-US" sz="1400" dirty="0"/>
          </a:p>
        </p:txBody>
      </p:sp>
      <p:sp>
        <p:nvSpPr>
          <p:cNvPr id="23" name="Rank Clothing 2"/>
          <p:cNvSpPr/>
          <p:nvPr/>
        </p:nvSpPr>
        <p:spPr>
          <a:xfrm>
            <a:off x="3657600" y="36118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Rank number Clothing 2"/>
          <p:cNvSpPr txBox="1"/>
          <p:nvPr/>
        </p:nvSpPr>
        <p:spPr>
          <a:xfrm>
            <a:off x="36576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Product Clothing 2"/>
          <p:cNvSpPr txBox="1"/>
          <p:nvPr/>
        </p:nvSpPr>
        <p:spPr>
          <a:xfrm>
            <a:off x="434340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Pants</a:t>
            </a:r>
            <a:endParaRPr lang="en-US" sz="1800" dirty="0"/>
          </a:p>
        </p:txBody>
      </p:sp>
      <p:sp>
        <p:nvSpPr>
          <p:cNvPr id="26" name="Orders Clothing 2"/>
          <p:cNvSpPr txBox="1"/>
          <p:nvPr/>
        </p:nvSpPr>
        <p:spPr>
          <a:xfrm>
            <a:off x="434340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171 orders</a:t>
            </a:r>
            <a:endParaRPr lang="en-US" sz="1400" dirty="0"/>
          </a:p>
        </p:txBody>
      </p:sp>
      <p:sp>
        <p:nvSpPr>
          <p:cNvPr id="27" name="Rank Clothing 3"/>
          <p:cNvSpPr/>
          <p:nvPr/>
        </p:nvSpPr>
        <p:spPr>
          <a:xfrm>
            <a:off x="3657600" y="4709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Rank number Clothing 3"/>
          <p:cNvSpPr txBox="1"/>
          <p:nvPr/>
        </p:nvSpPr>
        <p:spPr>
          <a:xfrm>
            <a:off x="36576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Product Clothing 3"/>
          <p:cNvSpPr txBox="1"/>
          <p:nvPr/>
        </p:nvSpPr>
        <p:spPr>
          <a:xfrm>
            <a:off x="434340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Shirt</a:t>
            </a:r>
            <a:endParaRPr lang="en-US" sz="1800" dirty="0"/>
          </a:p>
        </p:txBody>
      </p:sp>
      <p:sp>
        <p:nvSpPr>
          <p:cNvPr id="30" name="Orders Clothing 3"/>
          <p:cNvSpPr txBox="1"/>
          <p:nvPr/>
        </p:nvSpPr>
        <p:spPr>
          <a:xfrm>
            <a:off x="4343400" y="5001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169 orders</a:t>
            </a:r>
            <a:endParaRPr lang="en-US" sz="1400" dirty="0"/>
          </a:p>
        </p:txBody>
      </p:sp>
      <p:sp>
        <p:nvSpPr>
          <p:cNvPr id="31" name="Category card Footwear"/>
          <p:cNvSpPr/>
          <p:nvPr/>
        </p:nvSpPr>
        <p:spPr>
          <a:xfrm>
            <a:off x="621792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32" name="Category name Footwear"/>
          <p:cNvSpPr txBox="1"/>
          <p:nvPr/>
        </p:nvSpPr>
        <p:spPr>
          <a:xfrm>
            <a:off x="64922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Footwear</a:t>
            </a:r>
            <a:endParaRPr lang="en-US" sz="2200" dirty="0"/>
          </a:p>
        </p:txBody>
      </p:sp>
      <p:sp>
        <p:nvSpPr>
          <p:cNvPr id="33" name="Rank Footwear 1"/>
          <p:cNvSpPr/>
          <p:nvPr/>
        </p:nvSpPr>
        <p:spPr>
          <a:xfrm>
            <a:off x="6492240" y="2514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Rank number Footwear 1"/>
          <p:cNvSpPr txBox="1"/>
          <p:nvPr/>
        </p:nvSpPr>
        <p:spPr>
          <a:xfrm>
            <a:off x="6492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5" name="Product Footwear 1"/>
          <p:cNvSpPr txBox="1"/>
          <p:nvPr/>
        </p:nvSpPr>
        <p:spPr>
          <a:xfrm>
            <a:off x="717804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Sandals</a:t>
            </a:r>
            <a:endParaRPr lang="en-US" sz="1800" dirty="0"/>
          </a:p>
        </p:txBody>
      </p:sp>
      <p:sp>
        <p:nvSpPr>
          <p:cNvPr id="36" name="Orders Footwear 1"/>
          <p:cNvSpPr txBox="1"/>
          <p:nvPr/>
        </p:nvSpPr>
        <p:spPr>
          <a:xfrm>
            <a:off x="7178040" y="2807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160 orders</a:t>
            </a:r>
            <a:endParaRPr lang="en-US" sz="1400" dirty="0"/>
          </a:p>
        </p:txBody>
      </p:sp>
      <p:sp>
        <p:nvSpPr>
          <p:cNvPr id="37" name="Rank Footwear 2"/>
          <p:cNvSpPr/>
          <p:nvPr/>
        </p:nvSpPr>
        <p:spPr>
          <a:xfrm>
            <a:off x="6492240" y="36118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8" name="Rank number Footwear 2"/>
          <p:cNvSpPr txBox="1"/>
          <p:nvPr/>
        </p:nvSpPr>
        <p:spPr>
          <a:xfrm>
            <a:off x="6492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9" name="Product Footwear 2"/>
          <p:cNvSpPr txBox="1"/>
          <p:nvPr/>
        </p:nvSpPr>
        <p:spPr>
          <a:xfrm>
            <a:off x="717804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Shoes</a:t>
            </a:r>
            <a:endParaRPr lang="en-US" sz="1800" dirty="0"/>
          </a:p>
        </p:txBody>
      </p:sp>
      <p:sp>
        <p:nvSpPr>
          <p:cNvPr id="40" name="Orders Footwear 2"/>
          <p:cNvSpPr txBox="1"/>
          <p:nvPr/>
        </p:nvSpPr>
        <p:spPr>
          <a:xfrm>
            <a:off x="717804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150 orders</a:t>
            </a:r>
            <a:endParaRPr lang="en-US" sz="1400" dirty="0"/>
          </a:p>
        </p:txBody>
      </p:sp>
      <p:sp>
        <p:nvSpPr>
          <p:cNvPr id="41" name="Rank Footwear 3"/>
          <p:cNvSpPr/>
          <p:nvPr/>
        </p:nvSpPr>
        <p:spPr>
          <a:xfrm>
            <a:off x="6492240" y="4709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2" name="Rank number Footwear 3"/>
          <p:cNvSpPr txBox="1"/>
          <p:nvPr/>
        </p:nvSpPr>
        <p:spPr>
          <a:xfrm>
            <a:off x="64922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3" name="Product Footwear 3"/>
          <p:cNvSpPr txBox="1"/>
          <p:nvPr/>
        </p:nvSpPr>
        <p:spPr>
          <a:xfrm>
            <a:off x="717804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Sneakers</a:t>
            </a:r>
            <a:endParaRPr lang="en-US" sz="1800" dirty="0"/>
          </a:p>
        </p:txBody>
      </p:sp>
      <p:sp>
        <p:nvSpPr>
          <p:cNvPr id="44" name="Orders Footwear 3"/>
          <p:cNvSpPr txBox="1"/>
          <p:nvPr/>
        </p:nvSpPr>
        <p:spPr>
          <a:xfrm>
            <a:off x="7178040" y="5001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145 orders</a:t>
            </a:r>
            <a:endParaRPr lang="en-US" sz="1400" dirty="0"/>
          </a:p>
        </p:txBody>
      </p:sp>
      <p:sp>
        <p:nvSpPr>
          <p:cNvPr id="45" name="Category card Outerwear"/>
          <p:cNvSpPr/>
          <p:nvPr/>
        </p:nvSpPr>
        <p:spPr>
          <a:xfrm>
            <a:off x="905256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6" name="Category name Outerwear"/>
          <p:cNvSpPr txBox="1"/>
          <p:nvPr/>
        </p:nvSpPr>
        <p:spPr>
          <a:xfrm>
            <a:off x="932688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Outerwear</a:t>
            </a:r>
            <a:endParaRPr lang="en-US" sz="2200" dirty="0"/>
          </a:p>
        </p:txBody>
      </p:sp>
      <p:sp>
        <p:nvSpPr>
          <p:cNvPr id="47" name="Rank Outerwear 1"/>
          <p:cNvSpPr/>
          <p:nvPr/>
        </p:nvSpPr>
        <p:spPr>
          <a:xfrm>
            <a:off x="9326880" y="2514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Rank number Outerwear 1"/>
          <p:cNvSpPr txBox="1"/>
          <p:nvPr/>
        </p:nvSpPr>
        <p:spPr>
          <a:xfrm>
            <a:off x="93268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9" name="Product Outerwear 1"/>
          <p:cNvSpPr txBox="1"/>
          <p:nvPr/>
        </p:nvSpPr>
        <p:spPr>
          <a:xfrm>
            <a:off x="1001268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Jacket</a:t>
            </a:r>
            <a:endParaRPr lang="en-US" sz="1800" dirty="0"/>
          </a:p>
        </p:txBody>
      </p:sp>
      <p:sp>
        <p:nvSpPr>
          <p:cNvPr id="50" name="Orders Outerwear 1"/>
          <p:cNvSpPr txBox="1"/>
          <p:nvPr/>
        </p:nvSpPr>
        <p:spPr>
          <a:xfrm>
            <a:off x="10012680" y="2807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163 orders</a:t>
            </a:r>
            <a:endParaRPr lang="en-US" sz="1400" dirty="0"/>
          </a:p>
        </p:txBody>
      </p:sp>
      <p:sp>
        <p:nvSpPr>
          <p:cNvPr id="51" name="Rank Outerwear 2"/>
          <p:cNvSpPr/>
          <p:nvPr/>
        </p:nvSpPr>
        <p:spPr>
          <a:xfrm>
            <a:off x="9326880" y="36118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Rank number Outerwear 2"/>
          <p:cNvSpPr txBox="1"/>
          <p:nvPr/>
        </p:nvSpPr>
        <p:spPr>
          <a:xfrm>
            <a:off x="93268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53" name="Product Outerwear 2"/>
          <p:cNvSpPr txBox="1"/>
          <p:nvPr/>
        </p:nvSpPr>
        <p:spPr>
          <a:xfrm>
            <a:off x="1001268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Coat</a:t>
            </a:r>
            <a:endParaRPr lang="en-US" sz="1800" dirty="0"/>
          </a:p>
        </p:txBody>
      </p:sp>
      <p:sp>
        <p:nvSpPr>
          <p:cNvPr id="54" name="Orders Outerwear 2"/>
          <p:cNvSpPr txBox="1"/>
          <p:nvPr/>
        </p:nvSpPr>
        <p:spPr>
          <a:xfrm>
            <a:off x="1001268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161 orders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Most repeat buyers are not subscribed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peat buyers panel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Repeat buyers stat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72%</a:t>
            </a:r>
            <a:endParaRPr lang="en-US" sz="5400" dirty="0"/>
          </a:p>
        </p:txBody>
      </p:sp>
      <p:sp>
        <p:nvSpPr>
          <p:cNvPr id="6" name="Repeat buyers label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of repeat buyers have not subscribed</a:t>
            </a:r>
            <a:endParaRPr lang="en-US" sz="1800" dirty="0"/>
          </a:p>
        </p:txBody>
      </p:sp>
      <p:sp>
        <p:nvSpPr>
          <p:cNvPr id="7" name="Repeat buyers takeaway"/>
          <p:cNvSpPr txBox="1"/>
          <p:nvPr/>
        </p:nvSpPr>
        <p:spPr>
          <a:xfrm>
            <a:off x="822960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2,518 of 3,476 customers with more than 5 previous purchases are not subscribers, so they are a ready-made audience for subscription offers.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Young Adults generate the most revenue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ge group panel"/>
          <p:cNvSpPr/>
          <p:nvPr/>
        </p:nvSpPr>
        <p:spPr>
          <a:xfrm>
            <a:off x="78638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Age group stat"/>
          <p:cNvSpPr txBox="1"/>
          <p:nvPr/>
        </p:nvSpPr>
        <p:spPr>
          <a:xfrm>
            <a:off x="82296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$62,143</a:t>
            </a:r>
            <a:endParaRPr lang="en-US" sz="5400" dirty="0"/>
          </a:p>
        </p:txBody>
      </p:sp>
      <p:sp>
        <p:nvSpPr>
          <p:cNvPr id="6" name="Age group label"/>
          <p:cNvSpPr txBox="1"/>
          <p:nvPr/>
        </p:nvSpPr>
        <p:spPr>
          <a:xfrm>
            <a:off x="82296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from Young Adults, the top age group</a:t>
            </a:r>
            <a:endParaRPr lang="en-US" sz="1800" dirty="0"/>
          </a:p>
        </p:txBody>
      </p:sp>
      <p:sp>
        <p:nvSpPr>
          <p:cNvPr id="7" name="Age group takeaway"/>
          <p:cNvSpPr txBox="1"/>
          <p:nvPr/>
        </p:nvSpPr>
        <p:spPr>
          <a:xfrm>
            <a:off x="8229600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Young Adults contribute 26.7% of revenue. All four age groups sit between 24% and 27%, so revenue is spread evenly across ages.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Interactive Power BI dashboard</a:t>
            </a:r>
            <a:endParaRPr lang="en-US" sz="3600" dirty="0"/>
          </a:p>
        </p:txBody>
      </p:sp>
      <p:pic>
        <p:nvPicPr>
          <p:cNvPr id="3" name="Dashboard screenshot" descr="Power BI Customer Table Dashboard showing KPIs, subscription split, sales and revenue by category and age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863840" cy="4443984"/>
          </a:xfrm>
          <a:prstGeom prst="rect">
            <a:avLst/>
          </a:prstGeom>
        </p:spPr>
      </p:pic>
      <p:sp>
        <p:nvSpPr>
          <p:cNvPr id="4" name="Dashboard panel"/>
          <p:cNvSpPr/>
          <p:nvPr/>
        </p:nvSpPr>
        <p:spPr>
          <a:xfrm>
            <a:off x="8686800" y="1463040"/>
            <a:ext cx="2926080" cy="4443984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Dashboard heading"/>
          <p:cNvSpPr txBox="1"/>
          <p:nvPr/>
        </p:nvSpPr>
        <p:spPr>
          <a:xfrm>
            <a:off x="89611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Dashboard bullets"/>
          <p:cNvSpPr txBox="1"/>
          <p:nvPr/>
        </p:nvSpPr>
        <p:spPr>
          <a:xfrm>
            <a:off x="8961120" y="219456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KPIs: 3.9K customers, $59.76 average purchase, 3.75 rating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Subscription split: 27% Yes, 73% 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and revenue by category and age group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Filters: subscription, gender, category, shipping type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insights</a:t>
            </a:r>
            <a:endParaRPr lang="en-US" sz="3600" dirty="0"/>
          </a:p>
        </p:txBody>
      </p:sp>
      <p:sp>
        <p:nvSpPr>
          <p:cNvPr id="3" name="Insight card 1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4" name="Insight dot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Insight number 1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Insight text 1"/>
          <p:cNvSpPr txBox="1"/>
          <p:nvPr/>
        </p:nvSpPr>
        <p:spPr>
          <a:xfrm>
            <a:off x="1554480" y="1463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Male customers generate about 68% of revenue ($157,890 of $233,081)</a:t>
            </a:r>
            <a:endParaRPr lang="en-US" sz="1800" dirty="0"/>
          </a:p>
        </p:txBody>
      </p:sp>
      <p:sp>
        <p:nvSpPr>
          <p:cNvPr id="7" name="Insight card 2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8" name="Insight dot 2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Insight number 2"/>
          <p:cNvSpPr txBox="1"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Insight text 2"/>
          <p:cNvSpPr txBox="1"/>
          <p:nvPr/>
        </p:nvSpPr>
        <p:spPr>
          <a:xfrm>
            <a:off x="1554480" y="2377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Clothing leads in both sales and revenue, followed by Accessories</a:t>
            </a:r>
            <a:endParaRPr lang="en-US" sz="1800" dirty="0"/>
          </a:p>
        </p:txBody>
      </p:sp>
      <p:sp>
        <p:nvSpPr>
          <p:cNvPr id="11" name="Insight card 3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2" name="Insight dot 3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Insight number 3"/>
          <p:cNvSpPr txBox="1"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Insight text 3"/>
          <p:cNvSpPr txBox="1"/>
          <p:nvPr/>
        </p:nvSpPr>
        <p:spPr>
          <a:xfrm>
            <a:off x="1554480" y="32918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Only 27% of customers subscribe, and they spend no more per order</a:t>
            </a:r>
            <a:endParaRPr lang="en-US" sz="1800" dirty="0"/>
          </a:p>
        </p:txBody>
      </p:sp>
      <p:sp>
        <p:nvSpPr>
          <p:cNvPr id="15" name="Insight card 4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6" name="Insight dot 4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Insight number 4"/>
          <p:cNvSpPr txBox="1"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Insight text 4"/>
          <p:cNvSpPr txBox="1"/>
          <p:nvPr/>
        </p:nvSpPr>
        <p:spPr>
          <a:xfrm>
            <a:off x="1554480" y="4206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About 80% of customers are Loyal, with more than 10 previous purchases</a:t>
            </a:r>
            <a:endParaRPr lang="en-US" sz="1800" dirty="0"/>
          </a:p>
        </p:txBody>
      </p:sp>
      <p:sp>
        <p:nvSpPr>
          <p:cNvPr id="19" name="Insight card 5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0" name="Insight dot 5"/>
          <p:cNvSpPr/>
          <p:nvPr/>
        </p:nvSpPr>
        <p:spPr>
          <a:xfrm>
            <a:off x="777240" y="52578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Insight number 5"/>
          <p:cNvSpPr txBox="1"/>
          <p:nvPr/>
        </p:nvSpPr>
        <p:spPr>
          <a:xfrm>
            <a:off x="7772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Insight text 5"/>
          <p:cNvSpPr txBox="1"/>
          <p:nvPr/>
        </p:nvSpPr>
        <p:spPr>
          <a:xfrm>
            <a:off x="1554480" y="51206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Express-shipping users and Young Adults spend the most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Business recommendations</a:t>
            </a:r>
            <a:endParaRPr lang="en-US" sz="3600" dirty="0"/>
          </a:p>
        </p:txBody>
      </p:sp>
      <p:sp>
        <p:nvSpPr>
          <p:cNvPr id="3" name="Recommendation card 1"/>
          <p:cNvSpPr/>
          <p:nvPr/>
        </p:nvSpPr>
        <p:spPr>
          <a:xfrm>
            <a:off x="548640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4" name="Recommendation icon 1 circl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Recommendation icon 1" descr="Recommendat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356616" cy="356616"/>
          </a:xfrm>
          <a:prstGeom prst="rect">
            <a:avLst/>
          </a:prstGeom>
        </p:spPr>
      </p:pic>
      <p:sp>
        <p:nvSpPr>
          <p:cNvPr id="6" name="Recommendation heading 1"/>
          <p:cNvSpPr txBox="1"/>
          <p:nvPr/>
        </p:nvSpPr>
        <p:spPr>
          <a:xfrm>
            <a:off x="82296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Boost subscriptions</a:t>
            </a:r>
            <a:endParaRPr lang="en-US" sz="1800" dirty="0"/>
          </a:p>
        </p:txBody>
      </p:sp>
      <p:sp>
        <p:nvSpPr>
          <p:cNvPr id="7" name="Recommendation text 1"/>
          <p:cNvSpPr txBox="1"/>
          <p:nvPr/>
        </p:nvSpPr>
        <p:spPr>
          <a:xfrm>
            <a:off x="822960" y="3611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Promote exclusive benefits for subscribers.</a:t>
            </a:r>
            <a:endParaRPr lang="en-US" sz="1400" dirty="0"/>
          </a:p>
        </p:txBody>
      </p:sp>
      <p:sp>
        <p:nvSpPr>
          <p:cNvPr id="8" name="Recommendation card 2"/>
          <p:cNvSpPr/>
          <p:nvPr/>
        </p:nvSpPr>
        <p:spPr>
          <a:xfrm>
            <a:off x="2788920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9" name="Recommendation icon 2 circle"/>
          <p:cNvSpPr/>
          <p:nvPr/>
        </p:nvSpPr>
        <p:spPr>
          <a:xfrm>
            <a:off x="306324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Recommendation icon 2" descr="Recommendat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993392"/>
            <a:ext cx="356616" cy="356616"/>
          </a:xfrm>
          <a:prstGeom prst="rect">
            <a:avLst/>
          </a:prstGeom>
        </p:spPr>
      </p:pic>
      <p:sp>
        <p:nvSpPr>
          <p:cNvPr id="11" name="Recommendation heading 2"/>
          <p:cNvSpPr txBox="1"/>
          <p:nvPr/>
        </p:nvSpPr>
        <p:spPr>
          <a:xfrm>
            <a:off x="306324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Customer loyalty programs</a:t>
            </a:r>
            <a:endParaRPr lang="en-US" sz="1800" dirty="0"/>
          </a:p>
        </p:txBody>
      </p:sp>
      <p:sp>
        <p:nvSpPr>
          <p:cNvPr id="12" name="Recommendation text 2"/>
          <p:cNvSpPr txBox="1"/>
          <p:nvPr/>
        </p:nvSpPr>
        <p:spPr>
          <a:xfrm>
            <a:off x="3063240" y="3611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Reward repeat buyers to move them into the Loyal segment.</a:t>
            </a:r>
            <a:endParaRPr lang="en-US" sz="1400" dirty="0"/>
          </a:p>
        </p:txBody>
      </p:sp>
      <p:sp>
        <p:nvSpPr>
          <p:cNvPr id="13" name="Recommendation card 3"/>
          <p:cNvSpPr/>
          <p:nvPr/>
        </p:nvSpPr>
        <p:spPr>
          <a:xfrm>
            <a:off x="5029200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14" name="Recommendation icon 3 circle"/>
          <p:cNvSpPr/>
          <p:nvPr/>
        </p:nvSpPr>
        <p:spPr>
          <a:xfrm>
            <a:off x="530352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Recommendation icon 3" descr="Recommendat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993392"/>
            <a:ext cx="356616" cy="356616"/>
          </a:xfrm>
          <a:prstGeom prst="rect">
            <a:avLst/>
          </a:prstGeom>
        </p:spPr>
      </p:pic>
      <p:sp>
        <p:nvSpPr>
          <p:cNvPr id="16" name="Recommendation heading 3"/>
          <p:cNvSpPr txBox="1"/>
          <p:nvPr/>
        </p:nvSpPr>
        <p:spPr>
          <a:xfrm>
            <a:off x="530352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 discount policy</a:t>
            </a:r>
            <a:endParaRPr lang="en-US" sz="1800" dirty="0"/>
          </a:p>
        </p:txBody>
      </p:sp>
      <p:sp>
        <p:nvSpPr>
          <p:cNvPr id="17" name="Recommendation text 3"/>
          <p:cNvSpPr txBox="1"/>
          <p:nvPr/>
        </p:nvSpPr>
        <p:spPr>
          <a:xfrm>
            <a:off x="5303520" y="3611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Balance sales boosts with margin control.</a:t>
            </a:r>
            <a:endParaRPr lang="en-US" sz="1400" dirty="0"/>
          </a:p>
        </p:txBody>
      </p:sp>
      <p:sp>
        <p:nvSpPr>
          <p:cNvPr id="18" name="Recommendation card 4"/>
          <p:cNvSpPr/>
          <p:nvPr/>
        </p:nvSpPr>
        <p:spPr>
          <a:xfrm>
            <a:off x="7269480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19" name="Recommendation icon 4 circle"/>
          <p:cNvSpPr/>
          <p:nvPr/>
        </p:nvSpPr>
        <p:spPr>
          <a:xfrm>
            <a:off x="754380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Recommendation icon 4" descr="Recommendation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993392"/>
            <a:ext cx="356616" cy="356616"/>
          </a:xfrm>
          <a:prstGeom prst="rect">
            <a:avLst/>
          </a:prstGeom>
        </p:spPr>
      </p:pic>
      <p:sp>
        <p:nvSpPr>
          <p:cNvPr id="21" name="Recommendation heading 4"/>
          <p:cNvSpPr txBox="1"/>
          <p:nvPr/>
        </p:nvSpPr>
        <p:spPr>
          <a:xfrm>
            <a:off x="754380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Product positioning</a:t>
            </a:r>
            <a:endParaRPr lang="en-US" sz="1800" dirty="0"/>
          </a:p>
        </p:txBody>
      </p:sp>
      <p:sp>
        <p:nvSpPr>
          <p:cNvPr id="22" name="Recommendation text 4"/>
          <p:cNvSpPr txBox="1"/>
          <p:nvPr/>
        </p:nvSpPr>
        <p:spPr>
          <a:xfrm>
            <a:off x="7543800" y="3611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Highlight top-rated and best-selling products in campaigns.</a:t>
            </a:r>
            <a:endParaRPr lang="en-US" sz="1400" dirty="0"/>
          </a:p>
        </p:txBody>
      </p:sp>
      <p:sp>
        <p:nvSpPr>
          <p:cNvPr id="23" name="Recommendation card 5"/>
          <p:cNvSpPr/>
          <p:nvPr/>
        </p:nvSpPr>
        <p:spPr>
          <a:xfrm>
            <a:off x="9509760" y="155448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24" name="Recommendation icon 5 circle"/>
          <p:cNvSpPr/>
          <p:nvPr/>
        </p:nvSpPr>
        <p:spPr>
          <a:xfrm>
            <a:off x="978408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Recommendation icon 5" descr="Recommendation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2" y="1993392"/>
            <a:ext cx="356616" cy="356616"/>
          </a:xfrm>
          <a:prstGeom prst="rect">
            <a:avLst/>
          </a:prstGeom>
        </p:spPr>
      </p:pic>
      <p:sp>
        <p:nvSpPr>
          <p:cNvPr id="26" name="Recommendation heading 5"/>
          <p:cNvSpPr txBox="1"/>
          <p:nvPr/>
        </p:nvSpPr>
        <p:spPr>
          <a:xfrm>
            <a:off x="978408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Targeted marketing</a:t>
            </a:r>
            <a:endParaRPr lang="en-US" sz="1800" dirty="0"/>
          </a:p>
        </p:txBody>
      </p:sp>
      <p:sp>
        <p:nvSpPr>
          <p:cNvPr id="27" name="Recommendation text 5"/>
          <p:cNvSpPr txBox="1"/>
          <p:nvPr/>
        </p:nvSpPr>
        <p:spPr>
          <a:xfrm>
            <a:off x="9784080" y="3611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Focus on high-revenue age groups and express-shipping users.</a:t>
            </a:r>
            <a:endParaRPr lang="en-US" sz="1400" dirty="0"/>
          </a:p>
        </p:txBody>
      </p:sp>
      <p:sp>
        <p:nvSpPr>
          <p:cNvPr id="28" name="Closing text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Thank you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Piyush Jha  |  github.com/Piyushjha1806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Analytics">
  <a:themeElements>
    <a:clrScheme name="Customer Analytics">
      <a:dk1>
        <a:srgbClr val="1A1F36"/>
      </a:dk1>
      <a:lt1>
        <a:srgbClr val="FFFFFF"/>
      </a:lt1>
      <a:dk2>
        <a:srgbClr val="0B1F5C"/>
      </a:dk2>
      <a:lt2>
        <a:srgbClr val="EEF1FA"/>
      </a:lt2>
      <a:accent1>
        <a:srgbClr val="1B3A9E"/>
      </a:accent1>
      <a:accent2>
        <a:srgbClr val="E6338A"/>
      </a:accent2>
      <a:accent3>
        <a:srgbClr val="6B7FD7"/>
      </a:accent3>
      <a:accent4>
        <a:srgbClr val="F9D5E5"/>
      </a:accent4>
      <a:accent5>
        <a:srgbClr val="5B6280"/>
      </a:accent5>
      <a:accent6>
        <a:srgbClr val="F2B134"/>
      </a:accent6>
      <a:hlink>
        <a:srgbClr val="1B3A9E"/>
      </a:hlink>
      <a:folHlink>
        <a:srgbClr val="6B7FD7"/>
      </a:folHlink>
    </a:clrScheme>
    <a:fontScheme name="Customer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Piyush Jha</dc:creator>
  <cp:lastModifiedBy>Piyush Jha</cp:lastModifiedBy>
  <cp:revision>1</cp:revision>
  <dcterms:created xsi:type="dcterms:W3CDTF">2026-10-29T09:11:40Z</dcterms:created>
  <dcterms:modified xsi:type="dcterms:W3CDTF">2026-10-29T09:11:40Z</dcterms:modified>
</cp:coreProperties>
</file>